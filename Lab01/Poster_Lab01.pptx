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7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6858000" cy="6858000"/>
          </a:xfrm>
          <a:prstGeom prst="ellipse">
            <a:avLst/>
          </a:prstGeom>
          <a:solidFill>
            <a:srgbClr val="1A2D40"/>
          </a:solidFill>
          <a:ln w="25400">
            <a:solidFill>
              <a:srgbClr val="2435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731520"/>
            <a:ext cx="5486400" cy="54864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COЦІАЛЬНА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IНЖЕНЕРIЯ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5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КIБЕРБЕЗПЕЦI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атак та рекомендацii щодо захисту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2011680" cy="1463040"/>
          </a:xfrm>
          <a:prstGeom prst="rect">
            <a:avLst/>
          </a:prstGeom>
          <a:solidFill>
            <a:srgbClr val="1B2A3B"/>
          </a:solidFill>
          <a:ln w="1270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4251960"/>
            <a:ext cx="54864" cy="14630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97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 починається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фiшингу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4251960"/>
            <a:ext cx="2011680" cy="1463040"/>
          </a:xfrm>
          <a:prstGeom prst="rect">
            <a:avLst/>
          </a:prstGeom>
          <a:solidFill>
            <a:srgbClr val="1B2A3B"/>
          </a:solidFill>
          <a:ln w="1270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4251960"/>
            <a:ext cx="54864" cy="14630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4297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 млрд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017520" y="4846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листiв щодня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вiд зловмисникiв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4251960"/>
            <a:ext cx="2011680" cy="1463040"/>
          </a:xfrm>
          <a:prstGeom prst="rect">
            <a:avLst/>
          </a:prstGeom>
          <a:solidFill>
            <a:srgbClr val="1B2A3B"/>
          </a:solidFill>
          <a:ln w="1270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4251960"/>
            <a:ext cx="54864" cy="14630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4297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 трлн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03520" y="4846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збиткiв щороку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вiд кiбератак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217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1430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МЕТОДIВ СОЦIАЛЬНОЇ IНЖЕНЕРII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54864" cy="2377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216152"/>
            <a:ext cx="640080" cy="64008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Фiшинг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Пiдробленi листи/сайти для крадiжки паролiв та особистих даних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54864" cy="2377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216152"/>
            <a:ext cx="640080" cy="64008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Приманювання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5877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Заражений USB або посилання з безкоштовним вмiстом як пастка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C1121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097280"/>
            <a:ext cx="54864" cy="23774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1216152"/>
            <a:ext cx="640080" cy="64008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Пiдглядування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Surfing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5877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Спостереження за екраном або клавiатурою жертви у публiчних мiсцях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109728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B5179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06840" y="1097280"/>
            <a:ext cx="54864" cy="2377440"/>
          </a:xfrm>
          <a:prstGeom prst="rect">
            <a:avLst/>
          </a:prstGeom>
          <a:solidFill>
            <a:srgbClr val="B5179E"/>
          </a:solidFill>
          <a:ln w="12700">
            <a:solidFill>
              <a:srgbClr val="B517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0" y="1216152"/>
            <a:ext cx="640080" cy="640080"/>
          </a:xfrm>
          <a:prstGeom prst="ellipse">
            <a:avLst/>
          </a:prstGeom>
          <a:solidFill>
            <a:srgbClr val="B5179E"/>
          </a:solidFill>
          <a:ln w="12700">
            <a:solidFill>
              <a:srgbClr val="B517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1216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9828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Вигаданий привiд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9828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51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Pretexting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0" y="25877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Вигадана особа або сценарiй для отримання конфiденцiйних даних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74904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F77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749040"/>
            <a:ext cx="54864" cy="23774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80160" y="3867912"/>
            <a:ext cx="640080" cy="6400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3867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!!!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Програми-залякувачi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4965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Scareware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Фальшивi попередження про вiрус iз вимогою купити пiдроблений антивiрус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374904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3749040"/>
            <a:ext cx="54864" cy="2377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240" y="3867912"/>
            <a:ext cx="640080" cy="64008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0" y="3867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4612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Програми-вимагачi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46120" y="4965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91840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Шифрування файлiв iз вимогою викупу у криптовалютi за розшифровку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80760" y="374904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3A8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80760" y="3749040"/>
            <a:ext cx="54864" cy="23774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3867912"/>
            <a:ext cx="640080" cy="64008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3867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&gt;|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17220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Проникнення на хвостi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172200" y="4965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Tailgating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0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Фiзичне проникнення у захищену зону слiдом за авторизованою особою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006840" y="3749040"/>
            <a:ext cx="2743200" cy="2377440"/>
          </a:xfrm>
          <a:prstGeom prst="rect">
            <a:avLst/>
          </a:prstGeom>
          <a:solidFill>
            <a:srgbClr val="192535"/>
          </a:solidFill>
          <a:ln w="19050">
            <a:solidFill>
              <a:srgbClr val="2A9D8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006840" y="3749040"/>
            <a:ext cx="54864" cy="2377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58400" y="3867912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58400" y="3867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[T]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09828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у смiтнику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098280" y="4965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Dumpster Diving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44000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Збiр конфiденцiйних даних iз викинутих паперiв, дискiв або пристроїв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ДЕТАЛЬНИЙ ОГЛЯД — ЧАСТИНА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64008" cy="26060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ФIШИНГ  (Phishing)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Зловмисники надсилають пiдробленi листи нiбито вiд банку, держорганiв або вiдомих сервiсiв. Листи мiстять посилання на фейковi сайти, де жертва вводить логiн, пароль або даних картки.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76148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1576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Перевiряйте адресу вiдправника та URL перед кiком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96265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1693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Нiколи не вводьте паролi за посиланням з листа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16382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Увiмкнiть двофакторну автентифiкацiю (2FA)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36499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927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Повiдомляйте пiдозрiлi листи в IT-службу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E848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64008" cy="26060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ПРИМАНЮВАННЯ  (Baiting)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15819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Атака використовує цiкавiсть жертви. Заражений USB-накопичувач «випадково» залишається в офiсi, паркiнгу або на ресепшн. Пiсля пiдключення встановлюється шкiдливе ПЗ.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2423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81928" y="276148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71576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пiдключайте невiдомi USB-носiї до робочих ПК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81928" y="296265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91693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Повiдомте охорону або IT про знайденi носiї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81928" y="316382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118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Вимкнiть автозапуск носiїв у налаштуваннях ОС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1928" y="336499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31927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Використовуйте тiльки перевiренi носiї органiзацiї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88620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C1121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886200"/>
            <a:ext cx="64008" cy="26060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ПIДГЛЯДУВАННЯ  (Shoulder Surfing)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4165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Зловмисник фiзично спостерiгає за жертвою — дивиться на екран чи клавiатуру в кафе, транспортi або офiсi, щоб побачити пiн-код, пароль або конфiденцiйнi данi.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5257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559612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55040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Встановiть антишпигунський фiльтр на монiтор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579729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7515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Прикривайте клавiатуру при введеннi паролю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" y="599846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9527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Блокуйте екран при вiдходi вiд мiсця (Win+L)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619963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1539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Будьте уважнi в публiчних мiсцях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88620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B5179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886200"/>
            <a:ext cx="64008" cy="2606040"/>
          </a:xfrm>
          <a:prstGeom prst="rect">
            <a:avLst/>
          </a:prstGeom>
          <a:solidFill>
            <a:srgbClr val="B5179E"/>
          </a:solidFill>
          <a:ln w="12700">
            <a:solidFill>
              <a:srgbClr val="B517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ВИГАДАНИЙ ПРИВIД  (Pretexting)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263640" y="44165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Зловмисник видає себе за колегу, IT-фахiвця, аудитора або представника влади i вигадує переконливий сценарiй, щоб отримати доступ до даних, систем або примiщень.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63640" y="5257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81928" y="559612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555040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перевiряйте особу через офiцiйнi канали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81928" y="579729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57515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надавайте доступ без погодження з керiвником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81928" y="599846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59527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Будьте обережнi з несподiваними запитами на данi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81928" y="619963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61539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Запитайте iм'я, посаду та причину звернення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144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ДЕТАЛЬНИЙ ОГЛЯД — ЧАСТИНА 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F77F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64008" cy="26060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ПРОГРАМИ-ЗАЛЯКУВАЧI  (Scareware)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Жертва бачить спливаюче вiкно у браузерi: «Ваш ПК заражено! Завантажте антивiрус ЗАРАЗ!». Пiддавшись паницi, встановлює фальшиве ПЗ, яке насправдi є вiрусом або шахрайством.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76148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1576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Iгноруйте спливаючi вiкна про вiрус у браузерi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96265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1693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завантажуйте ПЗ з невiдомих сайтiв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16382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18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Використовуйте тiльки офiцiйне корпоративне ПЗ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36499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1927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Зверниться до IT-вiддiлу при сумнiвних попередженнях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D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64008" cy="26060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ПРОГРАМИ-ВИМАГАЧI  (Ransomware)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158191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Шкiдливе ПЗ шифрує всi файли на ПК та в мережi. На екранi з'являється вимога сплатити викуп у криптовалютi за ключ розшифровки. Навiть пiсля оплати файли можуть не повернутися.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2423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81928" y="276148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71576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 робiть резервнi копiї (правило 3-2-1)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81928" y="296265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91693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вiдкривайте вкладення вiд невiдомих вiдправникiв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81928" y="316382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11810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Оновлюйте ОС та ПЗ своєчасно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1928" y="336499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31927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Iзолюйте заражений ПК вiд мережi негайно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88620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3A8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886200"/>
            <a:ext cx="64008" cy="260604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ПРОНИКНЕННЯ НА ХВОСТI  (Tailgating)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5760" y="44165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Зловмисник чекає, коли авторизована особа вiдкриє дверi до захищеної зони, i заходить слiдом, використовуючи ввiчливiсть жертви або її вiдволiкання. Це фiзичне порушення безпеки.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5257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559612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55040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Нiколи не тримайте дверi для невiдомих осiб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579729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7515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Вимагайте перепустку вiд кожного, хто входить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" y="599846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9527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Повiдомте охорону про пiдозрiлих людей в офiсi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619963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1539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Обладнайте вхiд турнiкетом або системою контролю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886200"/>
            <a:ext cx="5669280" cy="2606040"/>
          </a:xfrm>
          <a:prstGeom prst="rect">
            <a:avLst/>
          </a:prstGeom>
          <a:solidFill>
            <a:srgbClr val="192535"/>
          </a:solidFill>
          <a:ln w="19050">
            <a:solidFill>
              <a:srgbClr val="2A9D8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886200"/>
            <a:ext cx="64008" cy="2606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3977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ПОШУК У СМIТНИКУ  (Dumpster Diving)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263640" y="44165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Зловмисники шукають конфiденцiйну iнформацiю у викинутих паперах, жорстких дисках або USB-носiях: паролi, рахунки, органiзацiйнi схеми, внутрiшнi документи.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63640" y="5257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захиститися: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81928" y="5596128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555040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Знищуйте документи шредером перед утилiзацiєю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81928" y="5797296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5751576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Надiйно видаляйте данi з носiїв перед утилiзацiєю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81928" y="5998464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59527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викидайте носiї без знищення даних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81928" y="6199632"/>
            <a:ext cx="64008" cy="64008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6153912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Встановiть замки на смiттєвi контейнери в офiсi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960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11430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ЗОЛОТI ПРАВИЛА ЗАХИСТУ ТА РОЗМIЩЕННЯ ПЛАКАТУ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365760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207008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Думайте перед клiком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6479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Зупинiться перед переходом за посиланням. Якщо щось здається пiдозрiлим — це, швидше за все, так i є. Перевiрте URL.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65760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0248" y="1207008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Паролi та 2FA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176479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Використовуйте унiкальнi складнi паролi для кожного акаунту та двофакторну автентифiкацiю. Нiколи нi з ким не дiлiться паролями.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097280"/>
            <a:ext cx="365760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02168" y="1207008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Перевiряйте особу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176479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Отримали несподiваний запит? Зателефонуйте людинi за вiдомим номером — не через деталi з пiдозрiлого листа або повiдомлення.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429000"/>
            <a:ext cx="365760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3538728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Резервнi копiї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09651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3-2-1: 3 копiї, 2 рiзних носiї, 1 офлайн. Це єдиний надiйний захист вiд програм-вимагачiв (ransomware).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3429000"/>
            <a:ext cx="365760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70248" y="3538728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Повiдомляйте iнциденти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0" y="409651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стали жертвою або помiтили пiдозрiлу активнiсть — негайно повiдомте IT-службу безпеки. Мовчання посилює збитки.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3429000"/>
            <a:ext cx="3657600" cy="2103120"/>
          </a:xfrm>
          <a:prstGeom prst="rect">
            <a:avLst/>
          </a:prstGeom>
          <a:solidFill>
            <a:srgbClr val="192535"/>
          </a:solidFill>
          <a:ln w="12700">
            <a:solidFill>
              <a:srgbClr val="2DC6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02168" y="3538728"/>
            <a:ext cx="502920" cy="50292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0216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Навчайтеся регулярно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0" y="409651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Кiберзагрози постiйно змiнюються. Проходьте тренiнги з кiбербезпеки та берiть участь у симуляцiях фiшингових атак.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6144768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Widescreen</PresentationFormat>
  <Paragraphs>128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Соціальна інженерія — Кібербезпека</dc:title>
  <dc:subject>PptxGenJS Presentation</dc:subject>
  <dc:creator>PptxGenJS</dc:creator>
  <cp:lastModifiedBy>Ян Риженко</cp:lastModifiedBy>
  <cp:revision>2</cp:revision>
  <dcterms:created xsi:type="dcterms:W3CDTF">2026-02-18T19:37:08Z</dcterms:created>
  <dcterms:modified xsi:type="dcterms:W3CDTF">2026-02-18T19:43:41Z</dcterms:modified>
</cp:coreProperties>
</file>